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1051560"/>
            <a:ext cx="5303520" cy="411480"/>
          </a:xfrm>
        </p:spPr>
        <p:txBody>
          <a:bodyPr/>
          <a:lstStyle/>
          <a:p>
            <a:pPr>
              <a:defRPr sz="1200" b="1">
                <a:solidFill>
                  <a:srgbClr val="0070C0"/>
                </a:solidFill>
                <a:latin typeface="Arial"/>
              </a:defRPr>
            </a:pPr>
            <a:r>
              <a:t>TITLE PAGE • INNOVATION PITCH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182880"/>
            <a:ext cx="9144000" cy="822960"/>
          </a:xfrm>
        </p:spPr>
        <p:txBody>
          <a:bodyPr/>
          <a:lstStyle/>
          <a:p>
            <a:pPr>
              <a:defRPr sz="3600" b="1">
                <a:solidFill>
                  <a:srgbClr val="002060"/>
                </a:solidFill>
                <a:latin typeface="Garamond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349240" cy="448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70C0"/>
                </a:solidFill>
                <a:latin typeface="Arial"/>
              </a:defRPr>
            </a:pPr>
            <a:r>
              <a:rPr sz="1050" b="1">
                <a:solidFill>
                  <a:srgbClr val="002060"/>
                </a:solidFill>
                <a:latin typeface="Arial"/>
              </a:rPr>
              <a:t>Problem Statement ID – </a:t>
            </a:r>
            <a:r>
              <a:rPr sz="1050" b="1">
                <a:solidFill>
                  <a:srgbClr val="1E293B"/>
                </a:solidFill>
                <a:latin typeface="Arial"/>
              </a:rPr>
              <a:t>26141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02060"/>
                </a:solidFill>
                <a:latin typeface="Arial"/>
              </a:rPr>
              <a:t>Problem Statement Title – </a:t>
            </a:r>
            <a:r>
              <a:rPr sz="1050" b="0">
                <a:solidFill>
                  <a:srgbClr val="1E293B"/>
                </a:solidFill>
                <a:latin typeface="Arial"/>
              </a:rPr>
              <a:t>Quantum-Inspired Cyber Threat Detection Framework for Teleportation-Based Quantum Digital Signatures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02060"/>
                </a:solidFill>
                <a:latin typeface="Arial"/>
              </a:rPr>
              <a:t>Theme – </a:t>
            </a:r>
            <a:r>
              <a:rPr sz="1050" b="0">
                <a:solidFill>
                  <a:srgbClr val="1E293B"/>
                </a:solidFill>
                <a:latin typeface="Arial"/>
              </a:rPr>
              <a:t>Blockchain &amp; Cybersecurity (Quantum Security)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02060"/>
                </a:solidFill>
                <a:latin typeface="Arial"/>
              </a:rPr>
              <a:t>PS Category – </a:t>
            </a:r>
            <a:r>
              <a:rPr sz="1050" b="1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02060"/>
                </a:solidFill>
                <a:latin typeface="Arial"/>
              </a:rPr>
              <a:t>Team ID – </a:t>
            </a:r>
            <a:r>
              <a:rPr sz="1050" b="0">
                <a:solidFill>
                  <a:srgbClr val="1E293B"/>
                </a:solidFill>
                <a:latin typeface="Arial"/>
              </a:rPr>
              <a:t>[INSERT TEAM ID]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02060"/>
                </a:solidFill>
                <a:latin typeface="Arial"/>
              </a:rPr>
              <a:t>Team Name – </a:t>
            </a:r>
            <a:r>
              <a:rPr sz="1050" b="0">
                <a:solidFill>
                  <a:srgbClr val="1E293B"/>
                </a:solidFill>
                <a:latin typeface="Arial"/>
              </a:rPr>
              <a:t>TeleShield / HexaCore (Registered on portal)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0070C0"/>
                </a:solidFill>
                <a:latin typeface="Arial"/>
              </a:rPr>
              <a:t>Solution Pitch: </a:t>
            </a:r>
            <a:r>
              <a:rPr sz="950" i="1">
                <a:solidFill>
                  <a:srgbClr val="0F172A"/>
                </a:solidFill>
                <a:latin typeface="Arial"/>
              </a:rPr>
              <a:t>Full-stack teleportation QDS framework with deterministic Q-STAT threat engine, Hoeffding/Chernoff statistical bounds, 10 attack classes &amp; dual hardware profiles (0% AI/ML).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143000"/>
            <a:ext cx="58064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868680"/>
          </a:xfrm>
        </p:spPr>
        <p:txBody>
          <a:bodyPr wrap="square" lIns="45720" tIns="18288" bIns="18288"/>
          <a:lstStyle/>
          <a:p>
            <a:pPr eaLnBrk="1" hangingPunct="1" algn="l">
              <a:spcAft>
                <a:spcPts val="200"/>
              </a:spcAft>
              <a:defRPr sz="2000" b="1">
                <a:solidFill>
                  <a:srgbClr val="002060"/>
                </a:solidFill>
                <a:latin typeface="Arial"/>
              </a:defRPr>
            </a:pPr>
            <a:r>
              <a:t>IDEA TITLE: TELESHIELD</a:t>
            </a:r>
          </a:p>
          <a:p>
            <a:pPr algn="l">
              <a:defRPr sz="1050" b="1">
                <a:solidFill>
                  <a:srgbClr val="0070C0"/>
                </a:solidFill>
                <a:latin typeface="Arial"/>
              </a:defRPr>
            </a:pPr>
            <a:r>
              <a:t>Quantum-Inspired Cyber Threat Detection for Teleportation-Based QDS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64592"/>
            <a:ext cx="1325880" cy="77724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TeleShield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48640" y="1051560"/>
            <a:ext cx="11091672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594360" y="1051560"/>
            <a:ext cx="11000232" cy="5029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50" b="1">
                <a:solidFill>
                  <a:srgbClr val="002060"/>
                </a:solidFill>
                <a:latin typeface="Arial"/>
              </a:defRPr>
            </a:pPr>
            <a:r>
              <a:t>PROBLEM-TO-SOLUTION TRAJECTORY: </a:t>
            </a:r>
            <a:r>
              <a:rPr sz="900" b="1">
                <a:solidFill>
                  <a:srgbClr val="0070C0"/>
                </a:solidFill>
                <a:latin typeface="Arial"/>
              </a:rPr>
              <a:t>[RSA/ECC Cryptosystems]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900" b="1">
                <a:solidFill>
                  <a:srgbClr val="0070C0"/>
                </a:solidFill>
                <a:latin typeface="Arial"/>
              </a:rPr>
              <a:t>[Active Adversarial Tampering]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900" b="1">
                <a:solidFill>
                  <a:srgbClr val="0070C0"/>
                </a:solidFill>
                <a:latin typeface="Arial"/>
              </a:rPr>
              <a:t>[Teleportation-Based QDS]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900" b="1">
                <a:solidFill>
                  <a:srgbClr val="10955D"/>
                </a:solidFill>
                <a:latin typeface="Arial"/>
              </a:rPr>
              <a:t>[TeleShield Q-STAT Engine]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900" b="1">
                <a:solidFill>
                  <a:srgbClr val="10955D"/>
                </a:solidFill>
                <a:latin typeface="Arial"/>
              </a:rPr>
              <a:t>[Tamper-Proof Verdict]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48640" y="1645920"/>
            <a:ext cx="5440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548640" y="1645920"/>
            <a:ext cx="5440680" cy="34747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40080" y="1664208"/>
            <a:ext cx="52578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PROPOSED SOLUTION &amp; HOW IT ADDRESSES THE PROBLEM (THREAT TAXONOMY)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40080" y="2029968"/>
            <a:ext cx="5257800" cy="1965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FORGERY ATTACKS: </a:t>
            </a:r>
            <a:r>
              <a:rPr sz="800">
                <a:solidFill>
                  <a:srgbClr val="1E293B"/>
                </a:solidFill>
                <a:latin typeface="Arial"/>
              </a:rPr>
              <a:t>Random state injection &amp; splice tampering detected via non-orthogonal projection mismatch exceeding Chernoff threshold s_a; random guessing bound P_FA ≤ exp(-2L(p_f - s_a)^2).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IMPERSONATION: </a:t>
            </a:r>
            <a:r>
              <a:rPr sz="800">
                <a:solidFill>
                  <a:srgbClr val="1E293B"/>
                </a:solidFill>
                <a:latin typeface="Arial"/>
              </a:rPr>
              <a:t>Man-in-the-Middle spoofing signer identity blocked without pre-shared Bell pairs; orthogonal basis collapse prevents authentic verification.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REPLAY &amp; FRESHNESS: </a:t>
            </a:r>
            <a:r>
              <a:rPr sz="800">
                <a:solidFill>
                  <a:srgbClr val="1E293B"/>
                </a:solidFill>
                <a:latin typeface="Arial"/>
              </a:rPr>
              <a:t>Stale quantum signatures intercepted and replayed rejected via sequential nonces, session timestamps, and quantum state collapse.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CHANNEL MANIPULATION: </a:t>
            </a:r>
            <a:r>
              <a:rPr sz="800">
                <a:solidFill>
                  <a:srgbClr val="1E293B"/>
                </a:solidFill>
                <a:latin typeface="Arial"/>
              </a:rPr>
              <a:t>Bit-flip (X), dephasing (Z), depolarizing noise &amp; intercept-resend detected via Bell-state fidelity decay and CHSH violation tracking (S = 2√2V).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99632" y="1645920"/>
            <a:ext cx="5440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6199632" y="1645920"/>
            <a:ext cx="5440680" cy="347472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6291072" y="1664208"/>
            <a:ext cx="525780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INNOVATION &amp; UNIQUENESS OF THE SOLUTION (4 CORE PILLARS)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291072" y="2029968"/>
            <a:ext cx="5257800" cy="1965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1. Quantum-Native Measurement Analysis: </a:t>
            </a:r>
            <a:r>
              <a:rPr sz="800">
                <a:solidFill>
                  <a:srgbClr val="1E293B"/>
                </a:solidFill>
                <a:latin typeface="Arial"/>
              </a:rPr>
              <a:t>Direct Pauli projective statistics (X/Z, extended X/Y/Z) without full state tomography. O(1) state complexity vs O(2^n) tomography overhead.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2. Zero AI / Zero ML (100% Deterministic): </a:t>
            </a:r>
            <a:r>
              <a:rPr sz="800">
                <a:solidFill>
                  <a:srgbClr val="1E293B"/>
                </a:solidFill>
                <a:latin typeface="Arial"/>
              </a:rPr>
              <a:t>No opaque black-box neural networks, no training bias, no false confidence, and zero hallucination risk. 100% explainable mathematical proof.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3. Mathematically Derived Statistical Thresholds: </a:t>
            </a:r>
            <a:r>
              <a:rPr sz="800">
                <a:solidFill>
                  <a:srgbClr val="1E293B"/>
                </a:solidFill>
                <a:latin typeface="Arial"/>
              </a:rPr>
              <a:t>Analytical acceptance threshold s_a from Hoeffding/Chernoff bounds: P_FR ≤ exp(-2L(s_a - ε)^2), P_FA ≤ exp(-2L(p_f - s_a)^2). Zero hardcoded cutoffs.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4. Hardware-Aware Dual-Profile Architecture: </a:t>
            </a:r>
            <a:r>
              <a:rPr sz="800">
                <a:solidFill>
                  <a:srgbClr val="1E293B"/>
                </a:solidFill>
                <a:latin typeface="Arial"/>
              </a:rPr>
              <a:t>Calibrated simulation profiles for Ion-Trap (Qiskit Aer depolarizing/dephasing) and Rydberg/Neutral-Atom (Pulser Hamiltonian) with Clifford scaling via Stim.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548640" y="4160520"/>
            <a:ext cx="11091672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640080" y="4187952"/>
            <a:ext cx="1088136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50" b="1">
                <a:solidFill>
                  <a:srgbClr val="002060"/>
                </a:solidFill>
                <a:latin typeface="Arial"/>
              </a:defRPr>
            </a:pPr>
            <a:r>
              <a:t>DETAILED EXPLANATION: END-TO-END TELEPORTATION QDS ARCHITECTURE &amp; WORKING MECHANISM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58368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676656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02060"/>
                </a:solidFill>
                <a:latin typeface="Arial"/>
              </a:defRPr>
            </a:pPr>
            <a:r>
              <a:t>1. MESSAGE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M ∈ {0,1}^k</a:t>
            </a:r>
            <a:br/>
            <a:r>
              <a:t>Classical text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1874519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1892807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2. QDS STATES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Pauli eigenstates</a:t>
            </a:r>
            <a:br/>
            <a:r>
              <a:t>X, Z (ext. Y)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090672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3108960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3. EPR SOURCE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|Φ⁺⟩ = (|00⟩+|11⟩)/√2</a:t>
            </a:r>
            <a:br/>
            <a:r>
              <a:t>Bell distribution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306824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4325112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4. TELEPORT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CNOT + H</a:t>
            </a:r>
            <a:br/>
            <a:r>
              <a:t>Bell measurement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5522976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5541264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5. CORRECTION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Pauli feed-forward</a:t>
            </a:r>
            <a:br/>
            <a:r>
              <a:t>X^{m1} Z^{m0}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6739128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6757416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6. VERIFIER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Quantum memory</a:t>
            </a:r>
            <a:br/>
            <a:r>
              <a:t>Storage of states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7955280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7973568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7. READOUT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Projective basis</a:t>
            </a:r>
            <a:br/>
            <a:r>
              <a:t>Π_Z, Π_X readout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9171432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9189720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10955D"/>
                </a:solidFill>
                <a:latin typeface="Arial"/>
              </a:defRPr>
            </a:pPr>
            <a:r>
              <a:t>8. Q-STAT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Statistical triage</a:t>
            </a:r>
            <a:br/>
            <a:r>
              <a:t>Binomial / SPRT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10387584" y="4498848"/>
            <a:ext cx="11430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10405872" y="4526280"/>
            <a:ext cx="1106424" cy="10515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10955D"/>
                </a:solidFill>
                <a:latin typeface="Arial"/>
              </a:defRPr>
            </a:pPr>
            <a:r>
              <a:t>9. VERDICT</a:t>
            </a:r>
          </a:p>
          <a:p>
            <a:pPr algn="ctr">
              <a:spcBef>
                <a:spcPts val="300"/>
              </a:spcBef>
              <a:defRPr sz="750">
                <a:solidFill>
                  <a:srgbClr val="1E293B"/>
                </a:solidFill>
                <a:latin typeface="Arial"/>
              </a:defRPr>
            </a:pPr>
            <a:r>
              <a:t>ACCEPT / REJECT</a:t>
            </a:r>
            <a:br/>
            <a:r>
              <a:t>Hash-chained log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800" i="1">
                <a:solidFill>
                  <a:srgbClr val="64748B"/>
                </a:solidFill>
                <a:latin typeface="Arial"/>
              </a:defRPr>
            </a:pPr>
            <a:r>
              <a:t>Configurable Demo Baseline: n = 64 tag bits, L = 222 states/bit, 10,000 shots (simulation parameters, not claimed hardware limits). Strict 0% AI/ML statistical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868680"/>
          </a:xfrm>
        </p:spPr>
        <p:txBody>
          <a:bodyPr wrap="square" lIns="45720" tIns="18288" bIns="18288"/>
          <a:lstStyle/>
          <a:p>
            <a:pPr eaLnBrk="1" hangingPunct="1" algn="l">
              <a:spcAft>
                <a:spcPts val="200"/>
              </a:spcAft>
              <a:defRPr sz="2000" b="1">
                <a:solidFill>
                  <a:srgbClr val="002060"/>
                </a:solidFill>
                <a:latin typeface="Arial"/>
              </a:defRPr>
            </a:pPr>
            <a:r>
              <a:t>TECHNICAL APPROACH</a:t>
            </a:r>
          </a:p>
          <a:p>
            <a:pPr algn="l">
              <a:defRPr sz="1050" b="1">
                <a:solidFill>
                  <a:srgbClr val="0070C0"/>
                </a:solidFill>
                <a:latin typeface="Arial"/>
              </a:defRPr>
            </a:pPr>
            <a:r>
              <a:t>Technology Stack, Mathematical Model &amp; 9-Stage Q-STAT Detection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64592"/>
            <a:ext cx="1325880" cy="77724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TeleShield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9" name="Picture 17418" descr="slide3_quantum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29000"/>
            <a:ext cx="5440680" cy="2697480"/>
          </a:xfrm>
          <a:prstGeom prst="rect">
            <a:avLst/>
          </a:prstGeom>
        </p:spPr>
      </p:pic>
      <p:pic>
        <p:nvPicPr>
          <p:cNvPr id="17432" name="Picture 17431" descr="slide3_quantum_circu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5440680" cy="2697480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548640" y="1051560"/>
            <a:ext cx="5440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548640" y="1051560"/>
            <a:ext cx="5440680" cy="3200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40080" y="1069848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TECHNOLOGIES &amp; QUANTUM SOFTWARE STACK (POINTER 1)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0080" y="1389888"/>
            <a:ext cx="5257800" cy="1874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Core &amp; Reference Backend: </a:t>
            </a:r>
            <a:r>
              <a:rPr sz="800">
                <a:solidFill>
                  <a:srgbClr val="1E293B"/>
                </a:solidFill>
                <a:latin typeface="Arial"/>
              </a:rPr>
              <a:t>Python 3.11+, NumPy, SciPy (Reference exact numerical state-vector engine; 100% deterministic baseline).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Primary Simulation Engine: </a:t>
            </a:r>
            <a:r>
              <a:rPr sz="800">
                <a:solidFill>
                  <a:srgbClr val="1E293B"/>
                </a:solidFill>
                <a:latin typeface="Arial"/>
              </a:rPr>
              <a:t>Qiskit 1.0+ &amp; Qiskit Aer (Emulates quantum circuits, Bell pairs, Kraus operators &amp; noisy quantum channels).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Clifford &amp; Neutral-Atom Engines: </a:t>
            </a:r>
            <a:r>
              <a:rPr sz="800">
                <a:solidFill>
                  <a:srgbClr val="1E293B"/>
                </a:solidFill>
                <a:latin typeface="Arial"/>
              </a:rPr>
              <a:t>Stim (Ultra-fast O(N) Clifford simulation for 10^5+ shots) + Pulser (Neutral-atom Hamiltonian pulse simulation).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• Hardware Profile Alignment: </a:t>
            </a:r>
            <a:r>
              <a:rPr sz="800">
                <a:solidFill>
                  <a:srgbClr val="1E293B"/>
                </a:solidFill>
                <a:latin typeface="Arial"/>
              </a:rPr>
              <a:t>Trapped-Ion simulation profile (dephasing/heating noise) &amp; Rydberg neutral-atom hardware-aware profile.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API &amp; Triage Dashboard: </a:t>
            </a:r>
            <a:r>
              <a:rPr sz="800">
                <a:solidFill>
                  <a:srgbClr val="1E293B"/>
                </a:solidFill>
                <a:latin typeface="Arial"/>
              </a:rPr>
              <a:t>FastAPI (Async REST API service) + Streamlit &amp; Plotly (Real-time explainable Q-STAT visual triage dashboard).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199632" y="1051560"/>
            <a:ext cx="5440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6199632" y="1051560"/>
            <a:ext cx="5440680" cy="32004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6291072" y="1069848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MATHEMATICAL FORMULATION &amp; HOEFFDING/CHERNOFF ERROR BOUNDS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291072" y="1389888"/>
            <a:ext cx="5257800" cy="1874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Binomial Statistical Model: </a:t>
            </a:r>
            <a:r>
              <a:rPr sz="800">
                <a:solidFill>
                  <a:srgbClr val="1E293B"/>
                </a:solidFill>
                <a:latin typeface="Arial"/>
              </a:rPr>
              <a:t>Per-block mismatch X_j ~ Binomial(L, p), observed mismatch rate m_j = X_j / L against analytical threshold s_a.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False Rejection Bound (Honest): </a:t>
            </a:r>
            <a:r>
              <a:rPr sz="800">
                <a:solidFill>
                  <a:srgbClr val="1E293B"/>
                </a:solidFill>
                <a:latin typeface="Arial"/>
              </a:rPr>
              <a:t>P_FR ≤ exp(-2L(s_a - ε)^2); across n blocks: P_FR,total ≤ n exp(-2L(s_a - ε)^2) (guaranteed &lt; 10^-6).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Forgery Acceptance Bound (Attacker): </a:t>
            </a:r>
            <a:r>
              <a:rPr sz="800">
                <a:solidFill>
                  <a:srgbClr val="1E293B"/>
                </a:solidFill>
                <a:latin typeface="Arial"/>
              </a:rPr>
              <a:t>Random guessing p_f = 1/2 implies strict forgery bound P_FA ≤ exp(-2L(p_f - s_a)^2) (guaranteed &lt; 10^-9).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• CHSH Entanglement Test: </a:t>
            </a:r>
            <a:r>
              <a:rPr sz="800">
                <a:solidFill>
                  <a:srgbClr val="1E293B"/>
                </a:solidFill>
                <a:latin typeface="Arial"/>
              </a:rPr>
              <a:t>Werner state parameterization S = 2√2 V; S &gt; 2 confirms non-locality; S ≤ 2 triggers channel intercept alarm.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Sequential &amp; Session Drift: </a:t>
            </a:r>
            <a:r>
              <a:rPr sz="800">
                <a:solidFill>
                  <a:srgbClr val="1E293B"/>
                </a:solidFill>
                <a:latin typeface="Arial"/>
              </a:rPr>
              <a:t>SPRT early-exit verification (Wald's bounds) + CUSUM cumulative sum tracking for slow adversarial drift.</a:t>
            </a:r>
          </a:p>
        </p:txBody>
      </p:sp>
      <p:pic>
        <p:nvPicPr>
          <p:cNvPr id="17441" name="Picture 174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5440680" cy="2697480"/>
          </a:xfrm>
          <a:prstGeom prst="rect">
            <a:avLst/>
          </a:prstGeom>
        </p:spPr>
      </p:pic>
      <p:sp>
        <p:nvSpPr>
          <p:cNvPr id="17442" name="Rounded Rectangle 17441"/>
          <p:cNvSpPr/>
          <p:nvPr/>
        </p:nvSpPr>
        <p:spPr>
          <a:xfrm>
            <a:off x="6199632" y="3429000"/>
            <a:ext cx="54406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6199632" y="3429000"/>
            <a:ext cx="5440680" cy="3200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6291072" y="3447288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METHODOLOGY: Q-STAT 9-STAGE THREAT TRIAGE PIPELINE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291072" y="3767328"/>
            <a:ext cx="5257800" cy="22860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5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1. Envelope Check: </a:t>
            </a:r>
            <a:r>
              <a:rPr sz="750">
                <a:solidFill>
                  <a:srgbClr val="1E293B"/>
                </a:solidFill>
                <a:latin typeface="Arial"/>
              </a:rPr>
              <a:t>JSON schema validation, parameter bounding &amp; payload integrity.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2. Freshness Check: </a:t>
            </a:r>
            <a:r>
              <a:rPr sz="750">
                <a:solidFill>
                  <a:srgbClr val="1E293B"/>
                </a:solidFill>
                <a:latin typeface="Arial"/>
              </a:rPr>
              <a:t>Timestamp, sequence number, and nonce check against replay.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3. Authorization Check: </a:t>
            </a:r>
            <a:r>
              <a:rPr sz="750">
                <a:solidFill>
                  <a:srgbClr val="1E293B"/>
                </a:solidFill>
                <a:latin typeface="Arial"/>
              </a:rPr>
              <a:t>Signer public key identity and registry authorization verification.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4. Message Integrity: </a:t>
            </a:r>
            <a:r>
              <a:rPr sz="750">
                <a:solidFill>
                  <a:srgbClr val="1E293B"/>
                </a:solidFill>
                <a:latin typeface="Arial"/>
              </a:rPr>
              <a:t>Classical cryptographic hash comparison across signer and verifier.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5. Quantum Measurement: </a:t>
            </a:r>
            <a:r>
              <a:rPr sz="750">
                <a:solidFill>
                  <a:srgbClr val="1E293B"/>
                </a:solidFill>
                <a:latin typeface="Arial"/>
              </a:rPr>
              <a:t>Projective measurement on verifier's teleported qubits in X/Z bases.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0070C0"/>
                </a:solidFill>
                <a:latin typeface="Arial"/>
              </a:rPr>
              <a:t>6. Binomial / SPRT Decision: </a:t>
            </a:r>
            <a:r>
              <a:rPr sz="750">
                <a:solidFill>
                  <a:srgbClr val="1E293B"/>
                </a:solidFill>
                <a:latin typeface="Arial"/>
              </a:rPr>
              <a:t>Sequential hypothesis testing against calculated s_a (0 AI/ML).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10955D"/>
                </a:solidFill>
                <a:latin typeface="Arial"/>
              </a:rPr>
              <a:t>7. Attack Fingerprinting: </a:t>
            </a:r>
            <a:r>
              <a:rPr sz="750">
                <a:solidFill>
                  <a:srgbClr val="1E293B"/>
                </a:solidFill>
                <a:latin typeface="Arial"/>
              </a:rPr>
              <a:t>Classifies signature vector across 10 distinct attack/noise classes.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10955D"/>
                </a:solidFill>
                <a:latin typeface="Arial"/>
              </a:rPr>
              <a:t>8. CHSH / CUSUM Check: </a:t>
            </a:r>
            <a:r>
              <a:rPr sz="750">
                <a:solidFill>
                  <a:srgbClr val="1E293B"/>
                </a:solidFill>
                <a:latin typeface="Arial"/>
              </a:rPr>
              <a:t>Entanglement visibility verification (S = 2√2V) &amp; cumulative drift.</a:t>
            </a:r>
          </a:p>
          <a:p>
            <a:pPr>
              <a:spcAft>
                <a:spcPts val="150"/>
              </a:spcAft>
            </a:pPr>
            <a:r>
              <a:rPr sz="800" b="1">
                <a:solidFill>
                  <a:srgbClr val="10955D"/>
                </a:solidFill>
                <a:latin typeface="Arial"/>
              </a:rPr>
              <a:t>9. Verdict &amp; Audit Log: </a:t>
            </a:r>
            <a:r>
              <a:rPr sz="750">
                <a:solidFill>
                  <a:srgbClr val="1E293B"/>
                </a:solidFill>
                <a:latin typeface="Arial"/>
              </a:rPr>
              <a:t>ACCEPT / REJECT verdict with SHA-256 hash-chained immutable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868680"/>
          </a:xfrm>
        </p:spPr>
        <p:txBody>
          <a:bodyPr wrap="square" lIns="45720" tIns="18288" bIns="18288"/>
          <a:lstStyle/>
          <a:p>
            <a:pPr eaLnBrk="1" hangingPunct="1" algn="l">
              <a:spcAft>
                <a:spcPts val="200"/>
              </a:spcAft>
              <a:defRPr sz="2000" b="1">
                <a:solidFill>
                  <a:srgbClr val="002060"/>
                </a:solidFill>
                <a:latin typeface="Arial"/>
              </a:defRPr>
            </a:pPr>
            <a:r>
              <a:t>FEASIBILITY AND VIABILITY</a:t>
            </a:r>
          </a:p>
          <a:p>
            <a:pPr algn="l">
              <a:defRPr sz="1050" b="1">
                <a:solidFill>
                  <a:srgbClr val="0070C0"/>
                </a:solidFill>
                <a:latin typeface="Arial"/>
              </a:defRPr>
            </a:pPr>
            <a:r>
              <a:t>Rigorous Feasibility Analysis, Threat Risks &amp; Engineering Mitigation Strategies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64592"/>
            <a:ext cx="1325880" cy="77724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TeleShield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3566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051560"/>
            <a:ext cx="3566160" cy="36576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088136"/>
            <a:ext cx="3383279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1. ANALYSIS OF FEASIBILITY (POINTER 1)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1463039"/>
            <a:ext cx="3383279" cy="3566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Software Feasibility: </a:t>
            </a:r>
            <a:r>
              <a:rPr sz="800">
                <a:solidFill>
                  <a:srgbClr val="1E293B"/>
                </a:solidFill>
                <a:latin typeface="Arial"/>
              </a:rPr>
              <a:t>Built entirely on standard Python 3.11+, Qiskit 1.0+, Stim, and SciPy. Zero proprietary runtime requirements; fully containerized via Docker.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Computational Feasibility: </a:t>
            </a:r>
            <a:r>
              <a:rPr sz="800">
                <a:solidFill>
                  <a:srgbClr val="1E293B"/>
                </a:solidFill>
                <a:latin typeface="Arial"/>
              </a:rPr>
              <a:t>Clifford-dominated teleportation circuits simulate in polynomial time O(N) using Stim, enabling 10^5+ Monte Carlo shots in seconds without clusters.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Hardware Feasibility: </a:t>
            </a:r>
            <a:r>
              <a:rPr sz="800">
                <a:solidFill>
                  <a:srgbClr val="1E293B"/>
                </a:solidFill>
                <a:latin typeface="Arial"/>
              </a:rPr>
              <a:t>Decoupled backend architecture models physical NISQ systems (depolarizing, thermal relaxation, gate crosstalk) via calibrated Qiskit Aer &amp; Pulser profiles.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Measurement Scalability: </a:t>
            </a:r>
            <a:r>
              <a:rPr sz="800">
                <a:solidFill>
                  <a:srgbClr val="1E293B"/>
                </a:solidFill>
                <a:latin typeface="Arial"/>
              </a:rPr>
              <a:t>Projective measurements evaluate in O(1) time per shot via fast binomial statistics and SPRT early-stopping; avoids exponential tomography.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Reproducibility &amp; Standards: </a:t>
            </a:r>
            <a:r>
              <a:rPr sz="800">
                <a:solidFill>
                  <a:srgbClr val="1E293B"/>
                </a:solidFill>
                <a:latin typeface="Arial"/>
              </a:rPr>
              <a:t>Open architecture with explicit YAML configuration schemas, automated pytest suites (32+ tests passing), and deterministic seeds.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06824" y="1051560"/>
            <a:ext cx="3566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306824" y="1051560"/>
            <a:ext cx="3566160" cy="36576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398264" y="1088136"/>
            <a:ext cx="3383279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2. POTENTIAL CHALLENGES &amp; RISKS (POINTER 2)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98264" y="1463039"/>
            <a:ext cx="3383279" cy="3566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Simulation Complexity: </a:t>
            </a:r>
            <a:r>
              <a:rPr sz="800">
                <a:solidFill>
                  <a:srgbClr val="1E293B"/>
                </a:solidFill>
                <a:latin typeface="Arial"/>
              </a:rPr>
              <a:t>Exponential state-vector memory explosion (2^N) in full density matrix simulators when scaling multi-party quantum signatures.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Noise vs. Attack Ambiguity: </a:t>
            </a:r>
            <a:r>
              <a:rPr sz="800">
                <a:solidFill>
                  <a:srgbClr val="1E293B"/>
                </a:solidFill>
                <a:latin typeface="Arial"/>
              </a:rPr>
              <a:t>Physical thermal relaxation and gate infidelity resembling low-rate adversarial eavesdropping or intercept-resend attacks.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False Rejection Risk: </a:t>
            </a:r>
            <a:r>
              <a:rPr sz="800">
                <a:solidFill>
                  <a:srgbClr val="1E293B"/>
                </a:solidFill>
                <a:latin typeface="Arial"/>
              </a:rPr>
              <a:t>Strict acceptance thresholds rejecting valid honest signatures under unexpected physical channel jitter or environmental drift.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Sub-Threshold Stealth Attacks: </a:t>
            </a:r>
            <a:r>
              <a:rPr sz="800">
                <a:solidFill>
                  <a:srgbClr val="1E293B"/>
                </a:solidFill>
                <a:latin typeface="Arial"/>
              </a:rPr>
              <a:t>Sophisticated adversaries injecting errors just below detection limits (threshold-aware attackers evading static bounds).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DC2626"/>
                </a:solidFill>
                <a:latin typeface="Arial"/>
              </a:rPr>
              <a:t>• Hardware Profile Discrepancies: </a:t>
            </a:r>
            <a:r>
              <a:rPr sz="800">
                <a:solidFill>
                  <a:srgbClr val="1E293B"/>
                </a:solidFill>
                <a:latin typeface="Arial"/>
              </a:rPr>
              <a:t>Trapped-ion shuttling delays vs. Rydberg neutral-atom blockade leakage creating divergent physical error signatures.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65008" y="1051560"/>
            <a:ext cx="3566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8065008" y="1051560"/>
            <a:ext cx="3566160" cy="365760"/>
          </a:xfrm>
          <a:prstGeom prst="roundRect">
            <a:avLst/>
          </a:prstGeom>
          <a:solidFill>
            <a:srgbClr val="10955D"/>
          </a:solidFill>
          <a:ln w="1270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156448" y="1088136"/>
            <a:ext cx="3383279" cy="3200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3. STRATEGIES &amp; MITIGATIONS (POINTER 3)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156448" y="1463039"/>
            <a:ext cx="3383279" cy="3566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Multi-Engine Abstraction: </a:t>
            </a:r>
            <a:r>
              <a:rPr sz="800">
                <a:solidFill>
                  <a:srgbClr val="1E293B"/>
                </a:solidFill>
                <a:latin typeface="Arial"/>
              </a:rPr>
              <a:t>Exact backend for mathematical ground truth; Stim for 10^5+ shot volumes; Aer for realistic NISQ noise emulation.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Per-Basis &amp; Per-Block Diagnostics: </a:t>
            </a:r>
            <a:r>
              <a:rPr sz="800">
                <a:solidFill>
                  <a:srgbClr val="1E293B"/>
                </a:solidFill>
                <a:latin typeface="Arial"/>
              </a:rPr>
              <a:t>Differentiates isotropic physical noise (uniform across X/Z) from targeted adversarial tampering (asymmetric X/Z or single block).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Analytical Chernoff Thresholds: </a:t>
            </a:r>
            <a:r>
              <a:rPr sz="800">
                <a:solidFill>
                  <a:srgbClr val="1E293B"/>
                </a:solidFill>
                <a:latin typeface="Arial"/>
              </a:rPr>
              <a:t>Mathematically derived acceptance cutoff s_a guarantees provable error bounds (P_FR &lt; 10^-6, P_FA &lt; 10^-9); zero hardcoded limits.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Continuous Entanglement &amp; Drift Checks: </a:t>
            </a:r>
            <a:r>
              <a:rPr sz="800">
                <a:solidFill>
                  <a:srgbClr val="1E293B"/>
                </a:solidFill>
                <a:latin typeface="Arial"/>
              </a:rPr>
              <a:t>Werner-state CHSH test (S = 2√2V) detects channel loss; CUSUM cumulative sum tests expose creeping sub-threshold attacks.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Modular Hardware Profiles: </a:t>
            </a:r>
            <a:r>
              <a:rPr sz="800">
                <a:solidFill>
                  <a:srgbClr val="1E293B"/>
                </a:solidFill>
                <a:latin typeface="Arial"/>
              </a:rPr>
              <a:t>Ion-trap and Rydberg profiles configure independent T1, T2, gate crosstalk, and readout errors without claiming proprietary hardware.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8640" y="5257800"/>
            <a:ext cx="11091672" cy="82296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40080" y="5285232"/>
            <a:ext cx="10881360" cy="7498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50" b="1">
                <a:solidFill>
                  <a:srgbClr val="002060"/>
                </a:solidFill>
                <a:latin typeface="Arial"/>
              </a:defRPr>
            </a:pPr>
            <a:r>
              <a:t>VERIFICATION &amp; REPRODUCIBILITY LIFECYCLE: </a:t>
            </a:r>
            <a:r>
              <a:rPr sz="850" b="1">
                <a:solidFill>
                  <a:srgbClr val="0070C0"/>
                </a:solidFill>
                <a:latin typeface="Arial"/>
              </a:rPr>
              <a:t>[SIMULATION: Exact / Aer / Stim / Pulser]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0070C0"/>
                </a:solidFill>
                <a:latin typeface="Arial"/>
              </a:rPr>
              <a:t>[NOISE CALIBRATION: T1/T2 &amp; Kraus Operators]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0070C0"/>
                </a:solidFill>
                <a:latin typeface="Arial"/>
              </a:rPr>
              <a:t>[STATISTICAL ANALYSIS: Binomial &amp; Chernoff s_a]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10955D"/>
                </a:solidFill>
                <a:latin typeface="Arial"/>
              </a:rPr>
              <a:t>[ATTACK EVALUATION: 10 Adversarial Vectors]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10955D"/>
                </a:solidFill>
                <a:latin typeface="Arial"/>
              </a:rPr>
              <a:t>[REPRODUCIBLE RESULTS: SHA-256 Hash-Chained Audit]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868680"/>
          </a:xfrm>
        </p:spPr>
        <p:txBody>
          <a:bodyPr wrap="square" lIns="45720" tIns="18288" bIns="18288"/>
          <a:lstStyle/>
          <a:p>
            <a:pPr eaLnBrk="1" hangingPunct="1" algn="l">
              <a:spcAft>
                <a:spcPts val="200"/>
              </a:spcAft>
              <a:defRPr sz="2000" b="1">
                <a:solidFill>
                  <a:srgbClr val="002060"/>
                </a:solidFill>
                <a:latin typeface="Arial"/>
              </a:defRPr>
            </a:pPr>
            <a:r>
              <a:t>IMPACT AND BENEFITS</a:t>
            </a:r>
          </a:p>
          <a:p>
            <a:pPr algn="l">
              <a:defRPr sz="1050" b="1">
                <a:solidFill>
                  <a:srgbClr val="0070C0"/>
                </a:solidFill>
                <a:latin typeface="Arial"/>
              </a:defRPr>
            </a:pPr>
            <a:r>
              <a:t>Target Audience Impact, Societal Benefits &amp; Measurable Deliverables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64592"/>
            <a:ext cx="1325880" cy="77724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TeleShield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11091672" cy="4572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QUANTUM-READY CYBER DEFENCE: UNCONDITIONAL INTEGRITY FOR POST-RSA CRITICAL INFRASTRUCTURE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60020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1600200"/>
            <a:ext cx="5486400" cy="32004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1618488"/>
            <a:ext cx="530352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FIVE BENEFIT SECTORS &amp; TARGET AUDIENCE (POINTERS 1 &amp; 2)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0080" y="1965960"/>
            <a:ext cx="5303520" cy="4023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1. Digital Security &amp; Sovereign Identity
</a:t>
            </a:r>
            <a:r>
              <a:rPr sz="800">
                <a:solidFill>
                  <a:srgbClr val="1E293B"/>
                </a:solidFill>
                <a:latin typeface="Arial"/>
              </a:rPr>
              <a:t>Tamper-proof non-repudiation protects national e-governance, digital passports, legal contracts, and sovereign credentials against quantum forgery and impersonation.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2. Quantum Cybersecurity Research
</a:t>
            </a:r>
            <a:r>
              <a:rPr sz="800">
                <a:solidFill>
                  <a:srgbClr val="1E293B"/>
                </a:solidFill>
                <a:latin typeface="Arial"/>
              </a:rPr>
              <a:t>Provides an open, standardized benchmark framework for researchers to evaluate teleportation protocols, Kraus noise models, and active quantum attack strategies.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3. Hardware Readiness &amp; Industry Transition
</a:t>
            </a:r>
            <a:r>
              <a:rPr sz="800">
                <a:solidFill>
                  <a:srgbClr val="1E293B"/>
                </a:solidFill>
                <a:latin typeface="Arial"/>
              </a:rPr>
              <a:t>Offers hardware manufacturers a standardized, low-friction application-layer testing sandbox to benchmark real NISQ trapped-ion and neutral-atom processors.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4. Explainable &amp; Legally Auditable Security
</a:t>
            </a:r>
            <a:r>
              <a:rPr sz="800">
                <a:solidFill>
                  <a:srgbClr val="1E293B"/>
                </a:solidFill>
                <a:latin typeface="Arial"/>
              </a:rPr>
              <a:t>100% deterministic mathematical telemetry eliminates opaque neural network black-boxes, fulfilling strict regulatory compliance and evidentiary legal standards.</a:t>
            </a:r>
          </a:p>
          <a:p>
            <a:pPr>
              <a:spcAft>
                <a:spcPts val="40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5. Future Quantum Networks &amp; Repeaters
</a:t>
            </a:r>
            <a:r>
              <a:rPr sz="800">
                <a:solidFill>
                  <a:srgbClr val="1E293B"/>
                </a:solidFill>
                <a:latin typeface="Arial"/>
              </a:rPr>
              <a:t>Establishes the algorithmic foundation for the Quantum Internet, quantum repeater authentication, and multi-party quantum signature distribution networks.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217920" y="1600200"/>
            <a:ext cx="542239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217920" y="1600200"/>
            <a:ext cx="5422392" cy="3200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309360" y="1618488"/>
            <a:ext cx="521208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CRITICAL REAL-WORLD APPLICATION DOMAINS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09360" y="1965960"/>
            <a:ext cx="5212080" cy="16459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Defense &amp; National Security: </a:t>
            </a:r>
            <a:r>
              <a:rPr sz="800">
                <a:solidFill>
                  <a:srgbClr val="1E293B"/>
                </a:solidFill>
                <a:latin typeface="Arial"/>
              </a:rPr>
              <a:t>High-assurance command-and-control messaging with mathematically provable zero eavesdropping tolerance.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Financial Systems &amp; CBDC: </a:t>
            </a:r>
            <a:r>
              <a:rPr sz="800">
                <a:solidFill>
                  <a:srgbClr val="1E293B"/>
                </a:solidFill>
                <a:latin typeface="Arial"/>
              </a:rPr>
              <a:t>High-value cross-border settlements, central bank digital currencies, and fraud-proof cryptographic bonds.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Critical National Infrastructure: </a:t>
            </a:r>
            <a:r>
              <a:rPr sz="800">
                <a:solidFill>
                  <a:srgbClr val="1E293B"/>
                </a:solidFill>
                <a:latin typeface="Arial"/>
              </a:rPr>
              <a:t>Power grids, nuclear command networks, and telecommunication backbones shielded from post-RSA compromise.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3749039"/>
            <a:ext cx="5422392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309360" y="3767328"/>
            <a:ext cx="5212080" cy="2743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002060"/>
                </a:solidFill>
                <a:latin typeface="Arial"/>
              </a:defRPr>
            </a:pPr>
            <a:r>
              <a:t>MEASURABLE ARCHITECTURAL CHARACTERISTICS &amp; PROJECT METRICS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327648" y="4069080"/>
            <a:ext cx="1645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373368" y="4114800"/>
            <a:ext cx="1554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10955D"/>
                </a:solidFill>
                <a:latin typeface="Arial"/>
              </a:defRPr>
            </a:pPr>
            <a:r>
              <a:t>0 AI / ML Models</a:t>
            </a:r>
          </a:p>
          <a:p>
            <a:pPr algn="ctr">
              <a:spcBef>
                <a:spcPts val="200"/>
              </a:spcBef>
              <a:defRPr sz="680">
                <a:solidFill>
                  <a:srgbClr val="1E293B"/>
                </a:solidFill>
                <a:latin typeface="Arial"/>
              </a:defRPr>
            </a:pPr>
            <a:r>
              <a:t>100% Deterministic &amp; Provable Decision Logic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065008" y="4069080"/>
            <a:ext cx="1645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110728" y="4114800"/>
            <a:ext cx="1554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070C0"/>
                </a:solidFill>
                <a:latin typeface="Arial"/>
              </a:defRPr>
            </a:pPr>
            <a:r>
              <a:t>3 Core Simulators</a:t>
            </a:r>
          </a:p>
          <a:p>
            <a:pPr algn="ctr">
              <a:spcBef>
                <a:spcPts val="200"/>
              </a:spcBef>
              <a:defRPr sz="680">
                <a:solidFill>
                  <a:srgbClr val="1E293B"/>
                </a:solidFill>
                <a:latin typeface="Arial"/>
              </a:defRPr>
            </a:pPr>
            <a:r>
              <a:t>Exact NumPy, Qiskit Aer, Stim Clifford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9802368" y="4069080"/>
            <a:ext cx="1645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848088" y="4114800"/>
            <a:ext cx="1554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2 Hardware Profiles</a:t>
            </a:r>
          </a:p>
          <a:p>
            <a:pPr algn="ctr">
              <a:spcBef>
                <a:spcPts val="200"/>
              </a:spcBef>
              <a:defRPr sz="680">
                <a:solidFill>
                  <a:srgbClr val="1E293B"/>
                </a:solidFill>
                <a:latin typeface="Arial"/>
              </a:defRPr>
            </a:pPr>
            <a:r>
              <a:t>Ion-Trap Aligned &amp; Rydberg Aware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327648" y="4956048"/>
            <a:ext cx="1645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6373368" y="5001768"/>
            <a:ext cx="1554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284C7"/>
                </a:solidFill>
                <a:latin typeface="Arial"/>
              </a:defRPr>
            </a:pPr>
            <a:r>
              <a:t>3 Measurement Bases</a:t>
            </a:r>
          </a:p>
          <a:p>
            <a:pPr algn="ctr">
              <a:spcBef>
                <a:spcPts val="200"/>
              </a:spcBef>
              <a:defRPr sz="680">
                <a:solidFill>
                  <a:srgbClr val="1E293B"/>
                </a:solidFill>
                <a:latin typeface="Arial"/>
              </a:defRPr>
            </a:pPr>
            <a:r>
              <a:t>Primary X/Z, Extended Six-State X/Y/Z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65008" y="4956048"/>
            <a:ext cx="1645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8110728" y="5001768"/>
            <a:ext cx="1554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10 Threat Classes</a:t>
            </a:r>
          </a:p>
          <a:p>
            <a:pPr algn="ctr">
              <a:spcBef>
                <a:spcPts val="200"/>
              </a:spcBef>
              <a:defRPr sz="680">
                <a:solidFill>
                  <a:srgbClr val="1E293B"/>
                </a:solidFill>
                <a:latin typeface="Arial"/>
              </a:defRPr>
            </a:pPr>
            <a:r>
              <a:t>Comprehensive Adversarial Attack Matrix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802368" y="4956048"/>
            <a:ext cx="1645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9848088" y="5001768"/>
            <a:ext cx="1554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850" b="1">
                <a:solidFill>
                  <a:srgbClr val="002060"/>
                </a:solidFill>
                <a:latin typeface="Arial"/>
              </a:defRPr>
            </a:pPr>
            <a:r>
              <a:t>100% Audit Trail</a:t>
            </a:r>
          </a:p>
          <a:p>
            <a:pPr algn="ctr">
              <a:spcBef>
                <a:spcPts val="200"/>
              </a:spcBef>
              <a:defRPr sz="680">
                <a:solidFill>
                  <a:srgbClr val="1E293B"/>
                </a:solidFill>
                <a:latin typeface="Arial"/>
              </a:defRPr>
            </a:pPr>
            <a:r>
              <a:t>Cryptographic SHA-256 Hash-Chained Log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309360" y="5870448"/>
            <a:ext cx="5212080" cy="20116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700" i="1">
                <a:solidFill>
                  <a:srgbClr val="64748B"/>
                </a:solidFill>
                <a:latin typeface="Arial"/>
              </a:defRPr>
            </a:pPr>
            <a:r>
              <a:t>* Architectural parameters and simulation profiles; zero unverified hardware claims.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63840" cy="868680"/>
          </a:xfrm>
        </p:spPr>
        <p:txBody>
          <a:bodyPr wrap="square" lIns="45720" tIns="18288" bIns="18288"/>
          <a:lstStyle/>
          <a:p>
            <a:pPr eaLnBrk="1" hangingPunct="1" algn="l">
              <a:spcAft>
                <a:spcPts val="200"/>
              </a:spcAft>
              <a:defRPr sz="2000" b="1">
                <a:solidFill>
                  <a:srgbClr val="002060"/>
                </a:solidFill>
                <a:latin typeface="Arial"/>
              </a:defRPr>
            </a:pPr>
            <a:r>
              <a:t>RESEARCH AND REFERENCES</a:t>
            </a:r>
          </a:p>
          <a:p>
            <a:pPr algn="l">
              <a:defRPr sz="1050" b="1">
                <a:solidFill>
                  <a:srgbClr val="0070C0"/>
                </a:solidFill>
                <a:latin typeface="Arial"/>
              </a:defRPr>
            </a:pPr>
            <a:r>
              <a:t>Scientific Foundations, Hardware Profile Alignment &amp; Open Deliverables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184" y="164592"/>
            <a:ext cx="1325880" cy="777240"/>
          </a:xfrm>
          <a:prstGeom prst="ellipse">
            <a:avLst/>
          </a:prstGeom>
          <a:solidFill>
            <a:srgbClr val="0070C0"/>
          </a:solidFill>
          <a:ln w="19050">
            <a:solidFill>
              <a:srgbClr val="FFFFF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TeleShield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5440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051560"/>
            <a:ext cx="5440680" cy="3200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078992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QUANTUM DIGITAL SIGNATURES (QDS) THEORETICAL FOUNDATIONS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1399031"/>
            <a:ext cx="5257800" cy="158191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D. Gottesman and I. Chuang: </a:t>
            </a:r>
            <a:r>
              <a:rPr sz="800">
                <a:solidFill>
                  <a:srgbClr val="1E293B"/>
                </a:solidFill>
                <a:latin typeface="Arial"/>
              </a:rPr>
              <a:t>"Quantum Digital Signatures", arXiv:quant-ph/0105032 (2001). Foundational information-theoretic protocol establishing quantum public keys, unconditional non-repudiation, and non-forgeability.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E. Andersson, M. Curty, I. Jex: </a:t>
            </a:r>
            <a:r>
              <a:rPr sz="800">
                <a:solidFill>
                  <a:srgbClr val="1E293B"/>
                </a:solidFill>
                <a:latin typeface="Arial"/>
              </a:rPr>
              <a:t>"Practical Quantum Digital Signatures without Quantum Memory", Phys. Rev. Lett. 96, 170501. Breakthrough enabling optical and multiport verifications.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V. Dunjko, P. Wallden, E. Andersson: </a:t>
            </a:r>
            <a:r>
              <a:rPr sz="800">
                <a:solidFill>
                  <a:srgbClr val="1E293B"/>
                </a:solidFill>
                <a:latin typeface="Arial"/>
              </a:rPr>
              <a:t>"Quantum Digital Signatures without Quantum Memory: Protocols and Security", Phys. Rev. A 89, 062327. Security bounds against collective coherent attacks.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9632" y="1051560"/>
            <a:ext cx="5440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199632" y="1051560"/>
            <a:ext cx="5440680" cy="32004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6291072" y="1078992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QUANTUM TELEPORTATION &amp; ENTANGLEMENT VERIFICATION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91072" y="1399031"/>
            <a:ext cx="5257800" cy="158191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C. H. Bennett et al.: </a:t>
            </a:r>
            <a:r>
              <a:rPr sz="800">
                <a:solidFill>
                  <a:srgbClr val="1E293B"/>
                </a:solidFill>
                <a:latin typeface="Arial"/>
              </a:rPr>
              <a:t>"Teleporting an Unknown Quantum State via Dual Classical and Einstein-Podolsky-Rosen Channels", Phys. Rev. Lett. 70, 1895 (1993). Foundational quantum teleportation mechanism.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J. F. Clauser, M. A. Horne, A. Shimony, R. A. Holt: </a:t>
            </a:r>
            <a:r>
              <a:rPr sz="800">
                <a:solidFill>
                  <a:srgbClr val="1E293B"/>
                </a:solidFill>
                <a:latin typeface="Arial"/>
              </a:rPr>
              <a:t>"Proposed Experiment to Test Local Hidden-Variable Theories (CHSH)", Phys. Rev. Lett. 23, 880 (1969). Bell inequality framework utilized in TeleShield.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284C7"/>
                </a:solidFill>
                <a:latin typeface="Arial"/>
              </a:rPr>
              <a:t>• R. F. Werner: </a:t>
            </a:r>
            <a:r>
              <a:rPr sz="800">
                <a:solidFill>
                  <a:srgbClr val="1E293B"/>
                </a:solidFill>
                <a:latin typeface="Arial"/>
              </a:rPr>
              <a:t>"Quantum States with Einstein-Podolsky-Rosen Correlations Admitting a Hidden-Variable Model", Phys. Rev. A 40, 4277 (1989). Parameterization for isotropic quantum channel degradation.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3154680"/>
            <a:ext cx="5440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3154680"/>
            <a:ext cx="5440680" cy="3200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40080" y="3182112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QUANTUM SOFTWARE, SIMULATION ENGINES &amp; STATISTICAL TOOLS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0080" y="3502152"/>
            <a:ext cx="5257800" cy="158191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• Qiskit &amp; Qiskit Aer: </a:t>
            </a:r>
            <a:r>
              <a:rPr sz="800">
                <a:solidFill>
                  <a:srgbClr val="1E293B"/>
                </a:solidFill>
                <a:latin typeface="Arial"/>
              </a:rPr>
              <a:t>IBM Quantum open-source SDK for circuit synthesis, gate decomposition, density matrix emulation &amp; Kraus channel noise modeling (https://qiskit.org).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• Stim (C. Gidney): </a:t>
            </a:r>
            <a:r>
              <a:rPr sz="800">
                <a:solidFill>
                  <a:srgbClr val="1E293B"/>
                </a:solidFill>
                <a:latin typeface="Arial"/>
              </a:rPr>
              <a:t>"Stim: a fast stabilizer circuit simulator", Quantum 5, 497 (2021). Enables O(N) Clifford simulation scaling for 10^5+ shots in TeleShield's high-throughput mode.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• Pulser (Pasqal): </a:t>
            </a:r>
            <a:r>
              <a:rPr sz="800">
                <a:solidFill>
                  <a:srgbClr val="1E293B"/>
                </a:solidFill>
                <a:latin typeface="Arial"/>
              </a:rPr>
              <a:t>"Pulser: An open-source package for the simulation of neutral-atom architectures", Quantum 6, 629 (2022). Used for neutral-atom Hamiltonian dynamics.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002060"/>
                </a:solidFill>
                <a:latin typeface="Arial"/>
              </a:rPr>
              <a:t>• SciPy &amp; NumPy: </a:t>
            </a:r>
            <a:r>
              <a:rPr sz="800">
                <a:solidFill>
                  <a:srgbClr val="1E293B"/>
                </a:solidFill>
                <a:latin typeface="Arial"/>
              </a:rPr>
              <a:t>Provides exact binomial distribution, Sequential Probability Ratio Tests (SPRT), and Cumulative Sum (CUSUM) drift detection functions.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9632" y="3154680"/>
            <a:ext cx="5440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199632" y="3154680"/>
            <a:ext cx="5440680" cy="320040"/>
          </a:xfrm>
          <a:prstGeom prst="roundRect">
            <a:avLst/>
          </a:prstGeom>
          <a:solidFill>
            <a:srgbClr val="10955D"/>
          </a:solidFill>
          <a:ln w="12700"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291072" y="3182112"/>
            <a:ext cx="5257800" cy="2926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HARDWARE PROFILE CONTEXT &amp; OPEN REPOSITORY DELIVERABLES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91072" y="3502152"/>
            <a:ext cx="5257800" cy="1581912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Hardware Profile Alignment: </a:t>
            </a:r>
            <a:r>
              <a:rPr sz="800">
                <a:solidFill>
                  <a:srgbClr val="1E293B"/>
                </a:solidFill>
                <a:latin typeface="Arial"/>
              </a:rPr>
              <a:t>Trapped-ion aligned simulation profile (calibrated Raman gate dephasing, ion shuttling) and Rydberg/neutral-atom hardware-aware profile (Rydberg blockade, optical tweezers).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Public Industry Landscape Awareness: </a:t>
            </a:r>
            <a:r>
              <a:rPr sz="800">
                <a:solidFill>
                  <a:srgbClr val="1E293B"/>
                </a:solidFill>
                <a:latin typeface="Arial"/>
              </a:rPr>
              <a:t>Informed by emerging neutral-atom platforms including public context from Egreen Quanta (https://www.egreenquanta.com/). Simulation profiles align with public architectural modalities; no proprietary hardware claims made.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0955D"/>
                </a:solidFill>
                <a:latin typeface="Arial"/>
              </a:rPr>
              <a:t>• TeleShield GitHub Repository: </a:t>
            </a:r>
            <a:r>
              <a:rPr sz="800">
                <a:solidFill>
                  <a:srgbClr val="1E293B"/>
                </a:solidFill>
                <a:latin typeface="Arial"/>
              </a:rPr>
              <a:t>Complete open-source framework, documentation, test suites &amp; simulation engine: https://github.com/Vshal-Kumar/QDS_for_Photonic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48640" y="5257800"/>
            <a:ext cx="11091672" cy="82296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640080" y="5285232"/>
            <a:ext cx="10881360" cy="749808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defRPr sz="950" b="1">
                <a:solidFill>
                  <a:srgbClr val="002060"/>
                </a:solidFill>
                <a:latin typeface="Arial"/>
              </a:defRPr>
            </a:pPr>
            <a:r>
              <a:t>END-TO-END THEORETICAL &amp; APPLIED RESEARCH SYNTHESIS: </a:t>
            </a:r>
            <a:r>
              <a:rPr sz="850" b="1">
                <a:solidFill>
                  <a:srgbClr val="0070C0"/>
                </a:solidFill>
                <a:latin typeface="Arial"/>
              </a:rPr>
              <a:t>[QDS THEORY]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0070C0"/>
                </a:solidFill>
                <a:latin typeface="Arial"/>
              </a:rPr>
              <a:t>[TELEPORTATION]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0070C0"/>
                </a:solidFill>
                <a:latin typeface="Arial"/>
              </a:rPr>
              <a:t>[MEASUREMENT]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0070C0"/>
                </a:solidFill>
                <a:latin typeface="Arial"/>
              </a:rPr>
              <a:t>[STATISTICS]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10955D"/>
                </a:solidFill>
                <a:latin typeface="Arial"/>
              </a:rPr>
              <a:t>[ATTACK MODELLING]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10955D"/>
                </a:solidFill>
                <a:latin typeface="Arial"/>
              </a:rPr>
              <a:t>[HARDWARE SIMULATION]</a:t>
            </a:r>
            <a:r>
              <a:rPr b="1">
                <a:solidFill>
                  <a:srgbClr val="64748B"/>
                </a:solidFill>
              </a:rPr>
              <a:t> ➔ </a:t>
            </a:r>
            <a:r>
              <a:rPr sz="850" b="1">
                <a:solidFill>
                  <a:srgbClr val="10955D"/>
                </a:solidFill>
                <a:latin typeface="Arial"/>
              </a:rPr>
              <a:t>[TELESHIELD]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